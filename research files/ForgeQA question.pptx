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14338"/>
            <a:ext cx="521158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WORKING SESSION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975122"/>
            <a:ext cx="5211589" cy="93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3500" b="1" spc="-3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Test Generation to QA Execution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57213" y="2093454"/>
            <a:ext cx="5143500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12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Q&amp;A translated into product positioning, engineering priorities, and a release-ready testing workflow.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213" y="4679156"/>
            <a:ext cx="521158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+ QA Team | August 2026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154564" y="0"/>
            <a:ext cx="2989436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497464" y="414338"/>
            <a:ext cx="230363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97464" y="2079947"/>
            <a:ext cx="18573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system—not just the prompt.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7464" y="4318397"/>
            <a:ext cx="17145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strategy session for turning ForgeQA into the daily operating layer for quality teams.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8115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Q&amp;A / STRATEGIC FRAMING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14350" y="564356"/>
            <a:ext cx="6643688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client’s core question is strategic—not technical.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14350" y="2003822"/>
            <a:ext cx="5286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42988" y="1966150"/>
            <a:ext cx="3071813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Claude can generate tests, why should a team use ForgeQA?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43463" y="2003822"/>
            <a:ext cx="5286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72100" y="1966150"/>
            <a:ext cx="3071813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focused platform succeed beside well-developed global products?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4350" y="2803922"/>
            <a:ext cx="5286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42988" y="2766250"/>
            <a:ext cx="3071813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ForgeQA become a sustainable, profitable SaaS business?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43463" y="2803922"/>
            <a:ext cx="5286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72100" y="2766250"/>
            <a:ext cx="3071813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creates daily customer value—and what must ship before release?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4350" y="3457575"/>
            <a:ext cx="8115300" cy="87153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Text 11"/>
          <p:cNvSpPr/>
          <p:nvPr/>
        </p:nvSpPr>
        <p:spPr>
          <a:xfrm>
            <a:off x="757238" y="3921919"/>
            <a:ext cx="1785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ANSWER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543175" y="3637676"/>
            <a:ext cx="5500688" cy="682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3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does not need to be “another AI model.” It needs to become the connected workflow and execution layer for QA teams.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28613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POSITIONING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35781"/>
            <a:ext cx="8115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the connected workflow.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14350" y="1300163"/>
            <a:ext cx="3739753" cy="2821781"/>
          </a:xfrm>
          <a:prstGeom prst="rect">
            <a:avLst/>
          </a:prstGeom>
          <a:solidFill>
            <a:srgbClr val="ECECF0"/>
          </a:solidFill>
          <a:ln/>
        </p:spPr>
      </p:sp>
      <p:sp>
        <p:nvSpPr>
          <p:cNvPr id="6" name="Shape 3"/>
          <p:cNvSpPr/>
          <p:nvPr/>
        </p:nvSpPr>
        <p:spPr>
          <a:xfrm>
            <a:off x="514350" y="1300163"/>
            <a:ext cx="3739753" cy="57150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7" name="Text 4"/>
          <p:cNvSpPr/>
          <p:nvPr/>
        </p:nvSpPr>
        <p:spPr>
          <a:xfrm>
            <a:off x="757238" y="1528763"/>
            <a:ext cx="325397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chat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7238" y="1960959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1556" y="1960959"/>
            <a:ext cx="2989659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text in a single conversation.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57238" y="2411016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1556" y="2411016"/>
            <a:ext cx="2989659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the user to repeat context, format, and hand-offs.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7238" y="2861072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21556" y="2861072"/>
            <a:ext cx="2989659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snippets without owning execution or records.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57238" y="3311128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21556" y="3311128"/>
            <a:ext cx="2989659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teams to connect tools and govern work manually.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4103" y="1300163"/>
            <a:ext cx="4375491" cy="2821781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4103" y="1300163"/>
            <a:ext cx="437549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991" y="1528763"/>
            <a:ext cx="388971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platform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96991" y="1960959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61309" y="1960959"/>
            <a:ext cx="3625397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knowledge, test assets, approvals, and history as durable team records.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496991" y="2411016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61309" y="2411016"/>
            <a:ext cx="3625397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generation in product documents through the Knowledge Base and RAG.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496991" y="2861072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61309" y="2861072"/>
            <a:ext cx="3625397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test cases to suites, automation scripts, execution, and reports.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496991" y="3311128"/>
            <a:ext cx="185738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61309" y="3311128"/>
            <a:ext cx="3625397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governance through collaboration, roles, CI/CD integration, and audit history.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14350" y="4300538"/>
            <a:ext cx="8115300" cy="310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14350" y="4300538"/>
            <a:ext cx="8115300" cy="142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" y="4451952"/>
            <a:ext cx="1750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CHOICE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264569" y="4421981"/>
            <a:ext cx="6365081" cy="174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Gemini, and GPT are engines inside ForgeQA—not the product itself.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6079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WORKFLOW 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00063"/>
            <a:ext cx="6079331" cy="3360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5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QA operating system.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593681" y="311814"/>
            <a:ext cx="2035969" cy="5242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must connect every hand-off—from initial understanding to governed execution.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14350" y="1236148"/>
            <a:ext cx="1107281" cy="1040476"/>
          </a:xfrm>
          <a:prstGeom prst="rect">
            <a:avLst/>
          </a:prstGeom>
          <a:solidFill>
            <a:srgbClr val="E7E7EB"/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236148"/>
            <a:ext cx="1107281" cy="5715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135044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INPUT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14363" y="1597354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or app URL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4363" y="2067502"/>
            <a:ext cx="907256" cy="20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Story, spec, staging change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621631" y="1236148"/>
            <a:ext cx="250031" cy="10404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871663" y="1236148"/>
            <a:ext cx="1107281" cy="1040476"/>
          </a:xfrm>
          <a:prstGeom prst="rect">
            <a:avLst/>
          </a:prstGeom>
          <a:solidFill>
            <a:srgbClr val="D9F5EA"/>
          </a:solidFill>
          <a:ln/>
        </p:spPr>
      </p:sp>
      <p:sp>
        <p:nvSpPr>
          <p:cNvPr id="13" name="Shape 10"/>
          <p:cNvSpPr/>
          <p:nvPr/>
        </p:nvSpPr>
        <p:spPr>
          <a:xfrm>
            <a:off x="1871663" y="1236148"/>
            <a:ext cx="110728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971675" y="1350448"/>
            <a:ext cx="9072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UNDERSTAND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971675" y="1571904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&amp; product context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71675" y="1905874"/>
            <a:ext cx="907256" cy="313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understanding, not a blank prompt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978944" y="1236148"/>
            <a:ext cx="250031" cy="9833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28975" y="1236148"/>
            <a:ext cx="1107281" cy="983326"/>
          </a:xfrm>
          <a:prstGeom prst="rect">
            <a:avLst/>
          </a:prstGeom>
          <a:solidFill>
            <a:srgbClr val="E7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3228975" y="1236148"/>
            <a:ext cx="1107281" cy="5715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0" name="Text 17"/>
          <p:cNvSpPr/>
          <p:nvPr/>
        </p:nvSpPr>
        <p:spPr>
          <a:xfrm>
            <a:off x="3328988" y="135044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GROUND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328988" y="1568779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+ RAG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328988" y="2010352"/>
            <a:ext cx="907256" cy="20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product rules injected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336256" y="1236148"/>
            <a:ext cx="250031" cy="9833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86288" y="1236148"/>
            <a:ext cx="1107281" cy="983326"/>
          </a:xfrm>
          <a:prstGeom prst="rect">
            <a:avLst/>
          </a:prstGeom>
          <a:solidFill>
            <a:srgbClr val="D9F5EA"/>
          </a:solidFill>
          <a:ln/>
        </p:spPr>
      </p:sp>
      <p:sp>
        <p:nvSpPr>
          <p:cNvPr id="25" name="Shape 22"/>
          <p:cNvSpPr/>
          <p:nvPr/>
        </p:nvSpPr>
        <p:spPr>
          <a:xfrm>
            <a:off x="4586288" y="1236148"/>
            <a:ext cx="110728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686300" y="135044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GENERATE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4686300" y="1568779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test cases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686300" y="2010352"/>
            <a:ext cx="907256" cy="20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Positive, negative, edge, validation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586538" y="2326630"/>
            <a:ext cx="2043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48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557338" y="2740968"/>
            <a:ext cx="1107281" cy="1068158"/>
          </a:xfrm>
          <a:prstGeom prst="rect">
            <a:avLst/>
          </a:prstGeom>
          <a:solidFill>
            <a:srgbClr val="E7E7EB"/>
          </a:solidFill>
          <a:ln/>
        </p:spPr>
      </p:sp>
      <p:sp>
        <p:nvSpPr>
          <p:cNvPr id="31" name="Shape 28"/>
          <p:cNvSpPr/>
          <p:nvPr/>
        </p:nvSpPr>
        <p:spPr>
          <a:xfrm>
            <a:off x="1557338" y="2740968"/>
            <a:ext cx="1107281" cy="5715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29"/>
          <p:cNvSpPr/>
          <p:nvPr/>
        </p:nvSpPr>
        <p:spPr>
          <a:xfrm>
            <a:off x="1657350" y="285526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GOVERN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657350" y="3116014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test suites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657350" y="3600004"/>
            <a:ext cx="907256" cy="20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ownership, reusable records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2864644" y="2740968"/>
            <a:ext cx="250031" cy="10681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314700" y="2740968"/>
            <a:ext cx="1107281" cy="1068158"/>
          </a:xfrm>
          <a:prstGeom prst="rect">
            <a:avLst/>
          </a:prstGeom>
          <a:solidFill>
            <a:srgbClr val="D9F5EA"/>
          </a:solidFill>
          <a:ln/>
        </p:spPr>
      </p:sp>
      <p:sp>
        <p:nvSpPr>
          <p:cNvPr id="37" name="Shape 34"/>
          <p:cNvSpPr/>
          <p:nvPr/>
        </p:nvSpPr>
        <p:spPr>
          <a:xfrm>
            <a:off x="3314700" y="2740968"/>
            <a:ext cx="110728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5"/>
          <p:cNvSpPr/>
          <p:nvPr/>
        </p:nvSpPr>
        <p:spPr>
          <a:xfrm>
            <a:off x="3414713" y="285526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AUTOMATE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414713" y="3046809"/>
            <a:ext cx="90725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 scripts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414713" y="3600004"/>
            <a:ext cx="907256" cy="20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Playwright, Cypress, Selenium, Puppeteer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4622006" y="2740968"/>
            <a:ext cx="250031" cy="10681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072063" y="2740968"/>
            <a:ext cx="1107281" cy="106815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3" name="Shape 40"/>
          <p:cNvSpPr/>
          <p:nvPr/>
        </p:nvSpPr>
        <p:spPr>
          <a:xfrm>
            <a:off x="5072063" y="2740968"/>
            <a:ext cx="110728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1"/>
          <p:cNvSpPr/>
          <p:nvPr/>
        </p:nvSpPr>
        <p:spPr>
          <a:xfrm>
            <a:off x="5172075" y="285526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EXECUTE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5172075" y="2977604"/>
            <a:ext cx="90725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CI/CD &amp; audit history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172075" y="3461593"/>
            <a:ext cx="907256" cy="313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Per-test results and repeatable release evidence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379369" y="2740968"/>
            <a:ext cx="250031" cy="10342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829425" y="2740968"/>
            <a:ext cx="1107281" cy="1034281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9" name="Shape 46"/>
          <p:cNvSpPr/>
          <p:nvPr/>
        </p:nvSpPr>
        <p:spPr>
          <a:xfrm>
            <a:off x="6829425" y="2740968"/>
            <a:ext cx="1107281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7"/>
          <p:cNvSpPr/>
          <p:nvPr/>
        </p:nvSpPr>
        <p:spPr>
          <a:xfrm>
            <a:off x="6929438" y="2855268"/>
            <a:ext cx="9072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6929438" y="2982906"/>
            <a:ext cx="9072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QA loop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929438" y="3333787"/>
            <a:ext cx="907256" cy="418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context to evidence—without spreadsheet hand-offs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514350" y="3930569"/>
            <a:ext cx="2786063" cy="1035844"/>
          </a:xfrm>
          <a:prstGeom prst="rect">
            <a:avLst/>
          </a:prstGeom>
          <a:solidFill>
            <a:srgbClr val="09090B"/>
          </a:solidFill>
          <a:ln/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4166313"/>
            <a:ext cx="928688" cy="650081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1621631" y="4224077"/>
            <a:ext cx="1593056" cy="100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5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REFERENCE</a:t>
            </a:r>
            <a:endParaRPr lang="en-US" sz="550" dirty="0"/>
          </a:p>
        </p:txBody>
      </p:sp>
      <p:sp>
        <p:nvSpPr>
          <p:cNvPr id="56" name="Text 52"/>
          <p:cNvSpPr/>
          <p:nvPr/>
        </p:nvSpPr>
        <p:spPr>
          <a:xfrm>
            <a:off x="1621631" y="4381798"/>
            <a:ext cx="15189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7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maps product-specific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621631" y="4509771"/>
            <a:ext cx="120037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7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onto a recognizable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621631" y="4637745"/>
            <a:ext cx="121728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7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lifecycle.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3500438" y="3930569"/>
            <a:ext cx="5129213" cy="10358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6"/>
          <p:cNvSpPr/>
          <p:nvPr/>
        </p:nvSpPr>
        <p:spPr>
          <a:xfrm>
            <a:off x="3700463" y="4151747"/>
            <a:ext cx="47291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63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IMPLICATION</a:t>
            </a:r>
            <a:endParaRPr lang="en-US" sz="600" dirty="0"/>
          </a:p>
        </p:txBody>
      </p:sp>
      <p:sp>
        <p:nvSpPr>
          <p:cNvPr id="61" name="Text 57"/>
          <p:cNvSpPr/>
          <p:nvPr/>
        </p:nvSpPr>
        <p:spPr>
          <a:xfrm>
            <a:off x="3700463" y="4308909"/>
            <a:ext cx="4729163" cy="586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2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is not a single model response. It is the durable flow that turns product knowledge into trusted, executable QA 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ADOPTION / CUSTOMER OPERATING RHYTHM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21494"/>
            <a:ext cx="81153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QA productivity loop.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14350" y="971550"/>
            <a:ext cx="6000750" cy="35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earns repeat usage when it converts every new requirement or staging change into a managed, executable quality workflow.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14350" y="1745866"/>
            <a:ext cx="8115300" cy="3929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745866"/>
            <a:ext cx="8115300" cy="14288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844092"/>
            <a:ext cx="1178719" cy="196453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TRIGGER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693069" y="1819089"/>
            <a:ext cx="6936581" cy="24645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Jira story arrives, or a developer shares an updated staging URL.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4350" y="2317366"/>
            <a:ext cx="1171575" cy="1600200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1" name="Shape 8"/>
          <p:cNvSpPr/>
          <p:nvPr/>
        </p:nvSpPr>
        <p:spPr>
          <a:xfrm>
            <a:off x="514350" y="2317366"/>
            <a:ext cx="1171575" cy="57150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2" name="Text 9"/>
          <p:cNvSpPr/>
          <p:nvPr/>
        </p:nvSpPr>
        <p:spPr>
          <a:xfrm>
            <a:off x="628650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8650" y="3026718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8650" y="354603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story, business rule, or app URL.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685925" y="2317366"/>
            <a:ext cx="214313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900238" y="2317366"/>
            <a:ext cx="1171575" cy="16002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4"/>
          <p:cNvSpPr/>
          <p:nvPr/>
        </p:nvSpPr>
        <p:spPr>
          <a:xfrm>
            <a:off x="1900238" y="2317366"/>
            <a:ext cx="1171575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2014538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14538" y="3026718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14538" y="354603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positive, negative, edge, and validation coverage.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071813" y="2317366"/>
            <a:ext cx="214313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286125" y="2317366"/>
            <a:ext cx="1171575" cy="1600200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3" name="Shape 20"/>
          <p:cNvSpPr/>
          <p:nvPr/>
        </p:nvSpPr>
        <p:spPr>
          <a:xfrm>
            <a:off x="3286125" y="2317366"/>
            <a:ext cx="1171575" cy="57150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24" name="Text 21"/>
          <p:cNvSpPr/>
          <p:nvPr/>
        </p:nvSpPr>
        <p:spPr>
          <a:xfrm>
            <a:off x="3400425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00425" y="3026718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400425" y="354603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verifies cases, steps, expected results, and risk.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4457700" y="2317366"/>
            <a:ext cx="214313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4672013" y="2317366"/>
            <a:ext cx="1171575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6"/>
          <p:cNvSpPr/>
          <p:nvPr/>
        </p:nvSpPr>
        <p:spPr>
          <a:xfrm>
            <a:off x="4672013" y="2317366"/>
            <a:ext cx="1171575" cy="57150"/>
          </a:xfrm>
          <a:prstGeom prst="rect">
            <a:avLst/>
          </a:prstGeom>
          <a:solidFill>
            <a:srgbClr val="062D20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786313" y="3026718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86313" y="354603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cases and add them to a named test suite.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843588" y="2317366"/>
            <a:ext cx="214313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6057900" y="2317366"/>
            <a:ext cx="1171575" cy="16002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2"/>
          <p:cNvSpPr/>
          <p:nvPr/>
        </p:nvSpPr>
        <p:spPr>
          <a:xfrm>
            <a:off x="6057900" y="2317366"/>
            <a:ext cx="1171575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6172200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172200" y="3026718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172200" y="3546035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framework-ready scripts from approved tests.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29475" y="2317366"/>
            <a:ext cx="214313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50" dirty="0"/>
          </a:p>
        </p:txBody>
      </p:sp>
      <p:sp>
        <p:nvSpPr>
          <p:cNvPr id="40" name="Shape 37"/>
          <p:cNvSpPr/>
          <p:nvPr/>
        </p:nvSpPr>
        <p:spPr>
          <a:xfrm>
            <a:off x="7443788" y="2317366"/>
            <a:ext cx="1171575" cy="1600200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41" name="Shape 38"/>
          <p:cNvSpPr/>
          <p:nvPr/>
        </p:nvSpPr>
        <p:spPr>
          <a:xfrm>
            <a:off x="7443788" y="2317366"/>
            <a:ext cx="1171575" cy="57150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42" name="Text 39"/>
          <p:cNvSpPr/>
          <p:nvPr/>
        </p:nvSpPr>
        <p:spPr>
          <a:xfrm>
            <a:off x="7558088" y="2453097"/>
            <a:ext cx="9429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558088" y="2982181"/>
            <a:ext cx="942975" cy="145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558088" y="3456961"/>
            <a:ext cx="942975" cy="46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6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regression and retain pass/fail history for the next sprint.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514350" y="4139022"/>
            <a:ext cx="8115300" cy="4814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14350" y="4139022"/>
            <a:ext cx="8115300" cy="142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7" name="Text 44"/>
          <p:cNvSpPr/>
          <p:nvPr/>
        </p:nvSpPr>
        <p:spPr>
          <a:xfrm>
            <a:off x="514350" y="4246178"/>
            <a:ext cx="17859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MESSAGE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2300288" y="4246178"/>
            <a:ext cx="632936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 ForgeQA with Jira and Slack: begin every feature from a reusable test baseline, then </a:t>
            </a:r>
            <a:r>
              <a:rPr lang="en-US" sz="10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through to </a:t>
            </a:r>
            <a:r>
              <a:rPr lang="en-US" sz="1050" b="1" spc="-1" kern="0" dirty="0">
                <a:solidFill>
                  <a:srgbClr val="078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regression evidence</a:t>
            </a:r>
            <a:r>
              <a:rPr lang="en-US" sz="10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28613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LAUNCH-READINESS AUDIT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35781"/>
            <a:ext cx="81153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foundation; execution gap remains.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14350" y="1300163"/>
            <a:ext cx="5593556" cy="2757488"/>
          </a:xfrm>
          <a:prstGeom prst="rect">
            <a:avLst/>
          </a:prstGeom>
          <a:solidFill>
            <a:srgbClr val="ECECF0"/>
          </a:solidFill>
          <a:ln/>
        </p:spPr>
      </p:sp>
      <p:sp>
        <p:nvSpPr>
          <p:cNvPr id="6" name="Shape 3"/>
          <p:cNvSpPr/>
          <p:nvPr/>
        </p:nvSpPr>
        <p:spPr>
          <a:xfrm>
            <a:off x="514350" y="1300163"/>
            <a:ext cx="5593556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471613"/>
            <a:ext cx="250226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identified in the client audit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59505" y="1514475"/>
            <a:ext cx="84837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AREAS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96653"/>
            <a:ext cx="5193506" cy="203596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7931" y="1300163"/>
            <a:ext cx="2043113" cy="27574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Text 7"/>
          <p:cNvSpPr/>
          <p:nvPr/>
        </p:nvSpPr>
        <p:spPr>
          <a:xfrm>
            <a:off x="6507956" y="1514475"/>
            <a:ext cx="164306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READOUT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6507956" y="1739503"/>
            <a:ext cx="1643063" cy="4371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8000"/>
              </a:lnSpc>
              <a:buNone/>
            </a:pPr>
            <a:r>
              <a:rPr lang="en-US" sz="3750" b="1" spc="-3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 / 4</a:t>
            </a:r>
            <a:endParaRPr lang="en-US" sz="3750" dirty="0"/>
          </a:p>
        </p:txBody>
      </p:sp>
      <p:sp>
        <p:nvSpPr>
          <p:cNvPr id="13" name="Text 9"/>
          <p:cNvSpPr/>
          <p:nvPr/>
        </p:nvSpPr>
        <p:spPr>
          <a:xfrm>
            <a:off x="6507956" y="2262392"/>
            <a:ext cx="1643063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12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is built. The next release must prove the full workflow.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507956" y="3182708"/>
            <a:ext cx="1643063" cy="87494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the bridge from product understanding to real test execution: PRD generation, shared workspaces, live runs, and production hardening.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14350" y="4221956"/>
            <a:ext cx="8115300" cy="3771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514350" y="4221956"/>
            <a:ext cx="8115300" cy="142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Text 13"/>
          <p:cNvSpPr/>
          <p:nvPr/>
        </p:nvSpPr>
        <p:spPr>
          <a:xfrm>
            <a:off x="514350" y="4314825"/>
            <a:ext cx="1107281" cy="27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SCOPE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1750219" y="4314825"/>
            <a:ext cx="687943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Client-provided ForgeQA launch audit. Built: multi-LLM gateway, generator, RAG, scripts, CI/CD export, security/auth, billing, and suites/history. Refinement: integrations, chunk UX, real execution, selector resilience. Critical: PRD generator, collaboration, live runner, production readiness.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00038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ROADMAP / ENGINEERING DECISION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00063"/>
            <a:ext cx="8115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understanding-to-execution gap.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14350" y="1235869"/>
            <a:ext cx="4976292" cy="3000375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6" name="Text 3"/>
          <p:cNvSpPr/>
          <p:nvPr/>
        </p:nvSpPr>
        <p:spPr>
          <a:xfrm>
            <a:off x="728663" y="1435894"/>
            <a:ext cx="4547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BUILD BEFORE PUBLIC RELEASE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28663" y="1628775"/>
            <a:ext cx="4000500" cy="42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4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full QA workflow real, shareable, and operational.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8663" y="2279972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42988" y="2279972"/>
            <a:ext cx="1859496" cy="146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Generator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28663" y="2494285"/>
            <a:ext cx="1771650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text details and URL crawl; export to Markdown, PDF, and DOCX; send approved PRDs to Knowledge Base.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102508" y="2279972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16833" y="2279972"/>
            <a:ext cx="1859496" cy="146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Regression Execution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102508" y="2494285"/>
            <a:ext cx="1771650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simulated runs with server-side headless execution or remote CI runner with per-test pass/fail results.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28663" y="3265810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42988" y="3265810"/>
            <a:ext cx="1859496" cy="146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Workspaces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28663" y="3480122"/>
            <a:ext cx="1771650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invitations, shared Knowledge Bases and suites, plus role-aware collaboration.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102508" y="3265810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16833" y="3265810"/>
            <a:ext cx="1859496" cy="146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102508" y="3480122"/>
            <a:ext cx="1771650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email delivery, Sentry monitoring, database indexes, and required security documentation.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619229" y="1235869"/>
            <a:ext cx="3010421" cy="300037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21" name="Text 18"/>
          <p:cNvSpPr/>
          <p:nvPr/>
        </p:nvSpPr>
        <p:spPr>
          <a:xfrm>
            <a:off x="5819254" y="1435894"/>
            <a:ext cx="2610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UPGRADE AFTER PILOT VALIDATION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819254" y="1628775"/>
            <a:ext cx="2610371" cy="63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4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friction and improve automation resilience.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819254" y="2491271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33579" y="2491271"/>
            <a:ext cx="926567" cy="2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133579" y="2848682"/>
            <a:ext cx="92656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Jira, TestRail, GitHub.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188733" y="2491271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503058" y="2491271"/>
            <a:ext cx="926567" cy="2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Auto-chunking UX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503058" y="2848682"/>
            <a:ext cx="92656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on upload with progress.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819254" y="3290143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33579" y="3290143"/>
            <a:ext cx="926567" cy="2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selectors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33579" y="3647554"/>
            <a:ext cx="92656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test IDs, ARIA labels.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188733" y="3290143"/>
            <a:ext cx="250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503058" y="3290143"/>
            <a:ext cx="926567" cy="2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95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runner sandbox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03058" y="3647554"/>
            <a:ext cx="926567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script steps in-browser.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14350" y="4321969"/>
            <a:ext cx="8115300" cy="39424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14350" y="4321969"/>
            <a:ext cx="8115300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" y="4492303"/>
            <a:ext cx="15001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DECISION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2014538" y="4393406"/>
            <a:ext cx="66151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proof of the complete workflow over additional feature breadth: understand → generate → approve → execute → report.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3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VALIDATION / NORTH-STAR WORKFLOW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6572250" cy="3360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5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one critical path first.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14350" y="907535"/>
            <a:ext cx="5429250" cy="33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9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release is credible only when a feature travels continuously from product understanding to a real, governed regression result.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76083" y="1136247"/>
            <a:ext cx="175356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STAGES · 4 VALIDATION GATES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14350" y="1418425"/>
            <a:ext cx="785813" cy="82644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01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300163" y="1475575"/>
            <a:ext cx="2035969" cy="769293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9" name="Text 6"/>
          <p:cNvSpPr/>
          <p:nvPr/>
        </p:nvSpPr>
        <p:spPr>
          <a:xfrm>
            <a:off x="1385888" y="1547013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INPUT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385888" y="1693459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or staging URL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85888" y="1872053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real feature signal.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336131" y="1475575"/>
            <a:ext cx="271463" cy="7692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07594" y="1475575"/>
            <a:ext cx="2035969" cy="76929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Text 11"/>
          <p:cNvSpPr/>
          <p:nvPr/>
        </p:nvSpPr>
        <p:spPr>
          <a:xfrm>
            <a:off x="3693319" y="1547013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UNDERSTAND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693319" y="1693459"/>
            <a:ext cx="18645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is generated and reviewed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93319" y="2022072"/>
            <a:ext cx="186451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source material into usable product context.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14350" y="2259155"/>
            <a:ext cx="785813" cy="7150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02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300163" y="2316305"/>
            <a:ext cx="2035969" cy="657895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Text 16"/>
          <p:cNvSpPr/>
          <p:nvPr/>
        </p:nvSpPr>
        <p:spPr>
          <a:xfrm>
            <a:off x="1385888" y="2387743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GROUND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385888" y="2534190"/>
            <a:ext cx="18645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enters the Knowledge Base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85888" y="2862802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chunk context automatically.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336131" y="2316305"/>
            <a:ext cx="271463" cy="6578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07594" y="2316305"/>
            <a:ext cx="2035969" cy="657895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4" name="Text 21"/>
          <p:cNvSpPr/>
          <p:nvPr/>
        </p:nvSpPr>
        <p:spPr>
          <a:xfrm>
            <a:off x="3693319" y="2387743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GENERATE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693319" y="2534190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test matrix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93319" y="2712783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structured cases with TC_IDs.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514350" y="2988487"/>
            <a:ext cx="785813" cy="67642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03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300163" y="3045637"/>
            <a:ext cx="2035969" cy="619274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9" name="Text 26"/>
          <p:cNvSpPr/>
          <p:nvPr/>
        </p:nvSpPr>
        <p:spPr>
          <a:xfrm>
            <a:off x="1385888" y="3117075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APPROVE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1385888" y="3263522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lead assigns a suite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385888" y="3442115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organize the release baseline.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336131" y="3045637"/>
            <a:ext cx="271463" cy="6192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3607594" y="3045637"/>
            <a:ext cx="2035969" cy="619274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Text 31"/>
          <p:cNvSpPr/>
          <p:nvPr/>
        </p:nvSpPr>
        <p:spPr>
          <a:xfrm>
            <a:off x="3693319" y="3117075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AUTOMATE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693319" y="3263522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script is generated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693319" y="3442115"/>
            <a:ext cx="186451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resilient selectors and chosen framework.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514350" y="3679199"/>
            <a:ext cx="785813" cy="56502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04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300163" y="3736349"/>
            <a:ext cx="2035969" cy="507876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9" name="Text 36"/>
          <p:cNvSpPr/>
          <p:nvPr/>
        </p:nvSpPr>
        <p:spPr>
          <a:xfrm>
            <a:off x="1385888" y="3807786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EXECUTE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1385888" y="3954233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per-test pass/fail run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385888" y="4132827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simulated execution.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336131" y="3736349"/>
            <a:ext cx="271463" cy="5078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3607594" y="3736349"/>
            <a:ext cx="2035969" cy="5078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1"/>
          <p:cNvSpPr/>
          <p:nvPr/>
        </p:nvSpPr>
        <p:spPr>
          <a:xfrm>
            <a:off x="3693319" y="3807786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INTEGRATE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3693319" y="3954233"/>
            <a:ext cx="1864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report and audit trail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693319" y="4132827"/>
            <a:ext cx="18645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evidence across the delivery team.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6515100" y="1404138"/>
            <a:ext cx="2143125" cy="2840087"/>
          </a:xfrm>
          <a:prstGeom prst="rect">
            <a:avLst/>
          </a:prstGeom>
          <a:solidFill>
            <a:srgbClr val="ECECF0"/>
          </a:solidFill>
          <a:ln/>
        </p:spPr>
      </p:sp>
      <p:sp>
        <p:nvSpPr>
          <p:cNvPr id="48" name="Shape 45"/>
          <p:cNvSpPr/>
          <p:nvPr/>
        </p:nvSpPr>
        <p:spPr>
          <a:xfrm>
            <a:off x="6515100" y="1404138"/>
            <a:ext cx="2143125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6"/>
          <p:cNvSpPr/>
          <p:nvPr/>
        </p:nvSpPr>
        <p:spPr>
          <a:xfrm>
            <a:off x="6515100" y="1404138"/>
            <a:ext cx="2143125" cy="185738"/>
          </a:xfrm>
          <a:prstGeom prst="rect">
            <a:avLst/>
          </a:prstGeom>
          <a:noFill/>
          <a:ln/>
        </p:spPr>
        <p:txBody>
          <a:bodyPr wrap="square" lIns="153035" tIns="102108" rIns="153035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LIFECYCLE REFERENCE</a:t>
            </a:r>
            <a:endParaRPr lang="en-US" sz="60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647025"/>
            <a:ext cx="2143125" cy="785813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6515100" y="2432838"/>
            <a:ext cx="2143125" cy="479524"/>
          </a:xfrm>
          <a:prstGeom prst="rect">
            <a:avLst/>
          </a:prstGeom>
          <a:noFill/>
          <a:ln/>
        </p:spPr>
        <p:txBody>
          <a:bodyPr wrap="square" lIns="153035" tIns="51054" rIns="153035" bIns="102108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6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should compress the testing lifecycle into one repeatable, team-visible product path.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514350" y="4329950"/>
            <a:ext cx="8115300" cy="72866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53" name="Text 49"/>
          <p:cNvSpPr/>
          <p:nvPr/>
        </p:nvSpPr>
        <p:spPr>
          <a:xfrm>
            <a:off x="657225" y="4694281"/>
            <a:ext cx="1821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2478881" y="4566028"/>
            <a:ext cx="5715000" cy="37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1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feature can pass through the entire path without spreadsheet copy-paste or DevOps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5643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MODEL / ILLUSTRATIVE PLANNING CASE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5500688" cy="658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0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value creates the business case.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343650" y="673354"/>
            <a:ext cx="2286000" cy="49900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7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sustainable business case comes from recurring operational value—not from selling access to a raw model.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514350" y="1586694"/>
            <a:ext cx="5429250" cy="2871788"/>
          </a:xfrm>
          <a:prstGeom prst="rect">
            <a:avLst/>
          </a:prstGeom>
          <a:solidFill>
            <a:srgbClr val="ECECF0"/>
          </a:solidFill>
          <a:ln/>
        </p:spPr>
      </p:sp>
      <p:sp>
        <p:nvSpPr>
          <p:cNvPr id="7" name="Shape 4"/>
          <p:cNvSpPr/>
          <p:nvPr/>
        </p:nvSpPr>
        <p:spPr>
          <a:xfrm>
            <a:off x="514350" y="1586694"/>
            <a:ext cx="5429250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700088" y="1751000"/>
            <a:ext cx="3950494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annual recurring revenue by customer motion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93456" y="1751000"/>
            <a:ext cx="964406" cy="156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5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· ANNUALIZED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2064209"/>
            <a:ext cx="5057775" cy="1900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0088" y="4057315"/>
            <a:ext cx="2457450" cy="23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motion:</a:t>
            </a:r>
            <a:r>
              <a:rPr lang="en-US" sz="6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300 teams × approximately $99/month = </a:t>
            </a:r>
            <a:r>
              <a:rPr lang="en-US" sz="6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$356.4k annualized revenue.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3300413" y="4057315"/>
            <a:ext cx="2457450" cy="23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6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motion:</a:t>
            </a:r>
            <a:r>
              <a:rPr lang="en-US" sz="6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teams × approximately </a:t>
            </a:r>
            <a:r>
              <a:rPr lang="en-US" sz="6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$2,000/month = $600k annualized revenue.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6143625" y="1586694"/>
            <a:ext cx="2486025" cy="28717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Text 10"/>
          <p:cNvSpPr/>
          <p:nvPr/>
        </p:nvSpPr>
        <p:spPr>
          <a:xfrm>
            <a:off x="6315075" y="1765288"/>
            <a:ext cx="21431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READOUT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6315075" y="1943881"/>
            <a:ext cx="2143125" cy="379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3000" b="1" spc="-3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$956.4k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315075" y="2387464"/>
            <a:ext cx="2143125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12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run rate from 325 illustrative customers.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15075" y="2843771"/>
            <a:ext cx="2143125" cy="39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expansion in customer count, price, or enterprise mix takes this client-brief model beyond $1M ARR.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3454059"/>
            <a:ext cx="800100" cy="5572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00900" y="3481239"/>
            <a:ext cx="1257300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55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SaaS-model reference visual. The launch team should validate the business case with pilot conversion, renewal, and gross-margin evidence.</a:t>
            </a:r>
            <a:endParaRPr lang="en-US" sz="550" dirty="0"/>
          </a:p>
        </p:txBody>
      </p:sp>
      <p:sp>
        <p:nvSpPr>
          <p:cNvPr id="20" name="Shape 15"/>
          <p:cNvSpPr/>
          <p:nvPr/>
        </p:nvSpPr>
        <p:spPr>
          <a:xfrm>
            <a:off x="514350" y="4601356"/>
            <a:ext cx="8115300" cy="3488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514350" y="4601356"/>
            <a:ext cx="8115300" cy="142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Text 17"/>
          <p:cNvSpPr/>
          <p:nvPr/>
        </p:nvSpPr>
        <p:spPr>
          <a:xfrm>
            <a:off x="514350" y="4687081"/>
            <a:ext cx="1250156" cy="248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1878806" y="4687081"/>
            <a:ext cx="6750844" cy="24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illustrative planning assumptions taken from the client-provided ForgeQA business case. Validate willingness to pay, activation, retention, support burden, and actual AI inference costs before treating this as a forecast.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6079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MODEL / CUSTOMER VALUE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6079331" cy="329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0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Day-one value for every QA stakeholder.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593681" y="319069"/>
            <a:ext cx="2035969" cy="5242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5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adoption expands when each role can see a faster, more governed path through the same QA workflow.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14350" y="1029091"/>
            <a:ext cx="1571625" cy="3571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1029091"/>
            <a:ext cx="1571625" cy="357188"/>
          </a:xfrm>
          <a:prstGeom prst="rect">
            <a:avLst/>
          </a:prstGeom>
          <a:noFill/>
          <a:ln/>
        </p:spPr>
        <p:txBody>
          <a:bodyPr wrap="square" lIns="187071" tIns="102108" rIns="187071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2085975" y="1029091"/>
            <a:ext cx="3271838" cy="3571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2085975" y="1029091"/>
            <a:ext cx="3271838" cy="357188"/>
          </a:xfrm>
          <a:prstGeom prst="rect">
            <a:avLst/>
          </a:prstGeom>
          <a:noFill/>
          <a:ln/>
        </p:spPr>
        <p:txBody>
          <a:bodyPr wrap="square" lIns="187071" tIns="102108" rIns="187071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PROMISE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357813" y="1029091"/>
            <a:ext cx="3271838" cy="35718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Text 8"/>
          <p:cNvSpPr/>
          <p:nvPr/>
        </p:nvSpPr>
        <p:spPr>
          <a:xfrm>
            <a:off x="5357813" y="1029091"/>
            <a:ext cx="3271838" cy="357188"/>
          </a:xfrm>
          <a:prstGeom prst="rect">
            <a:avLst/>
          </a:prstGeom>
          <a:noFill/>
          <a:ln/>
        </p:spPr>
        <p:txBody>
          <a:bodyPr wrap="square" lIns="187071" tIns="102108" rIns="187071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 TO DEMONSTRATE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514350" y="1386278"/>
            <a:ext cx="1571625" cy="671513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3" name="Shape 10"/>
          <p:cNvSpPr/>
          <p:nvPr/>
        </p:nvSpPr>
        <p:spPr>
          <a:xfrm>
            <a:off x="514350" y="1386278"/>
            <a:ext cx="1571625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8" y="1472003"/>
            <a:ext cx="1285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tester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2938" y="1677721"/>
            <a:ext cx="12858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78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+ COVERAGE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243138" y="1486291"/>
            <a:ext cx="2428875" cy="296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less time formatting test cases and more time exploring product risk.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57813" y="1386278"/>
            <a:ext cx="3271838" cy="67151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8" name="Shape 15"/>
          <p:cNvSpPr/>
          <p:nvPr/>
        </p:nvSpPr>
        <p:spPr>
          <a:xfrm>
            <a:off x="5357813" y="1386278"/>
            <a:ext cx="3271838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19" name="Text 16"/>
          <p:cNvSpPr/>
          <p:nvPr/>
        </p:nvSpPr>
        <p:spPr>
          <a:xfrm>
            <a:off x="5514975" y="1472003"/>
            <a:ext cx="2428875" cy="43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600"/>
              </a:lnSpc>
              <a:buNone/>
            </a:pP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one user story into </a:t>
            </a: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structured cases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positive, negative, edge, and validation 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14350" y="2057791"/>
            <a:ext cx="1571625" cy="671513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1" name="Shape 18"/>
          <p:cNvSpPr/>
          <p:nvPr/>
        </p:nvSpPr>
        <p:spPr>
          <a:xfrm>
            <a:off x="514350" y="2057791"/>
            <a:ext cx="1571625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22" name="Text 19"/>
          <p:cNvSpPr/>
          <p:nvPr/>
        </p:nvSpPr>
        <p:spPr>
          <a:xfrm>
            <a:off x="642938" y="2143516"/>
            <a:ext cx="1285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lead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2938" y="2349233"/>
            <a:ext cx="1285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78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CONTROL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243138" y="2157803"/>
            <a:ext cx="2428875" cy="296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testing quality while keeping a reusable release baseline across the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57813" y="2057791"/>
            <a:ext cx="3271838" cy="67151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3"/>
          <p:cNvSpPr/>
          <p:nvPr/>
        </p:nvSpPr>
        <p:spPr>
          <a:xfrm>
            <a:off x="5357813" y="2057791"/>
            <a:ext cx="3271838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27" name="Text 24"/>
          <p:cNvSpPr/>
          <p:nvPr/>
        </p:nvSpPr>
        <p:spPr>
          <a:xfrm>
            <a:off x="5514975" y="2143516"/>
            <a:ext cx="2428875" cy="43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600"/>
              </a:lnSpc>
              <a:buNone/>
            </a:pP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</a:t>
            </a: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approval, suite assignment, and persistent history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same release 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4350" y="2729303"/>
            <a:ext cx="1571625" cy="671513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29" name="Shape 26"/>
          <p:cNvSpPr/>
          <p:nvPr/>
        </p:nvSpPr>
        <p:spPr>
          <a:xfrm>
            <a:off x="514350" y="2729303"/>
            <a:ext cx="1571625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30" name="Text 27"/>
          <p:cNvSpPr/>
          <p:nvPr/>
        </p:nvSpPr>
        <p:spPr>
          <a:xfrm>
            <a:off x="642938" y="2815028"/>
            <a:ext cx="12858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engineer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2938" y="3169314"/>
            <a:ext cx="1285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78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+ RESILIENCE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243138" y="2829316"/>
            <a:ext cx="2428875" cy="444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traceable cases instead of rebuilding intent from spreadsheets and chat output.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357813" y="2729303"/>
            <a:ext cx="3271838" cy="67151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1"/>
          <p:cNvSpPr/>
          <p:nvPr/>
        </p:nvSpPr>
        <p:spPr>
          <a:xfrm>
            <a:off x="5357813" y="2729303"/>
            <a:ext cx="3271838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35" name="Text 32"/>
          <p:cNvSpPr/>
          <p:nvPr/>
        </p:nvSpPr>
        <p:spPr>
          <a:xfrm>
            <a:off x="5514975" y="2815028"/>
            <a:ext cx="2428875" cy="43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600"/>
              </a:lnSpc>
              <a:buNone/>
            </a:pP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framework-ready scripts with </a:t>
            </a: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selector strategies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visible path 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execution.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14350" y="3400816"/>
            <a:ext cx="1571625" cy="671513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37" name="Shape 34"/>
          <p:cNvSpPr/>
          <p:nvPr/>
        </p:nvSpPr>
        <p:spPr>
          <a:xfrm>
            <a:off x="514350" y="3400816"/>
            <a:ext cx="1571625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38" name="Text 35"/>
          <p:cNvSpPr/>
          <p:nvPr/>
        </p:nvSpPr>
        <p:spPr>
          <a:xfrm>
            <a:off x="642938" y="3486541"/>
            <a:ext cx="1285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leader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2938" y="3692258"/>
            <a:ext cx="12858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078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+ EVIDENCE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2243138" y="3500828"/>
            <a:ext cx="2428875" cy="296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releases faster while making quality risk, run status, and ownership visible.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357813" y="3400816"/>
            <a:ext cx="3271838" cy="671513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2" name="Shape 39"/>
          <p:cNvSpPr/>
          <p:nvPr/>
        </p:nvSpPr>
        <p:spPr>
          <a:xfrm>
            <a:off x="5357813" y="3400816"/>
            <a:ext cx="3271838" cy="14288"/>
          </a:xfrm>
          <a:prstGeom prst="rect">
            <a:avLst/>
          </a:prstGeom>
          <a:solidFill>
            <a:srgbClr val="B9BAC0"/>
          </a:solidFill>
          <a:ln/>
        </p:spPr>
      </p:sp>
      <p:sp>
        <p:nvSpPr>
          <p:cNvPr id="43" name="Text 40"/>
          <p:cNvSpPr/>
          <p:nvPr/>
        </p:nvSpPr>
        <p:spPr>
          <a:xfrm>
            <a:off x="5514975" y="3486541"/>
            <a:ext cx="2428875" cy="43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600"/>
              </a:lnSpc>
              <a:buNone/>
            </a:pP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a </a:t>
            </a: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regression result, CI/CD trigger, and audit trail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 single feature </a:t>
            </a:r>
            <a:r>
              <a:rPr lang="en-US" sz="80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14350" y="4143766"/>
            <a:ext cx="8115300" cy="72151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2"/>
          <p:cNvSpPr/>
          <p:nvPr/>
        </p:nvSpPr>
        <p:spPr>
          <a:xfrm>
            <a:off x="714375" y="4492023"/>
            <a:ext cx="19573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BOUNDARY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2671763" y="4365110"/>
            <a:ext cx="5757863" cy="36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10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developer may prefer direct model access. A QA organization needs a shared, repeatable, governed system that works for the whole team on day 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811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RELEASE-CYCLE AGENDA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14350" y="514350"/>
            <a:ext cx="8115300" cy="3360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50" b="1" spc="-2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for the next release cycle.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14350" y="1257579"/>
            <a:ext cx="5093159" cy="16446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735806" y="1457604"/>
            <a:ext cx="600075" cy="14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0400"/>
              </a:lnSpc>
              <a:buNone/>
            </a:pPr>
            <a:r>
              <a:rPr lang="en-US" sz="2100" b="1" spc="-2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57325" y="1457604"/>
            <a:ext cx="392872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NORTH-STAR DEMO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457325" y="1632626"/>
            <a:ext cx="3928728" cy="430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45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URL → PRD → Knowledge Base → test suite → real regression result.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57325" y="2156352"/>
            <a:ext cx="3928728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this one continuous story the shared acceptance test for product, development, QA, and customer demos.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14350" y="3030792"/>
            <a:ext cx="2482286" cy="1191444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1" name="Shape 8"/>
          <p:cNvSpPr/>
          <p:nvPr/>
        </p:nvSpPr>
        <p:spPr>
          <a:xfrm>
            <a:off x="514350" y="3030792"/>
            <a:ext cx="2482286" cy="5715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2" name="Text 9"/>
          <p:cNvSpPr/>
          <p:nvPr/>
        </p:nvSpPr>
        <p:spPr>
          <a:xfrm>
            <a:off x="671513" y="3173667"/>
            <a:ext cx="2500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5838" y="3173667"/>
            <a:ext cx="185363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P0 over breadth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1513" y="3407959"/>
            <a:ext cx="2167961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PRD generation, shared workspaces, real execution, and production hardening before expanding the feature catalogue.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125223" y="3030792"/>
            <a:ext cx="2482286" cy="1191444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6" name="Shape 13"/>
          <p:cNvSpPr/>
          <p:nvPr/>
        </p:nvSpPr>
        <p:spPr>
          <a:xfrm>
            <a:off x="3125223" y="3030792"/>
            <a:ext cx="2482286" cy="5715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Text 14"/>
          <p:cNvSpPr/>
          <p:nvPr/>
        </p:nvSpPr>
        <p:spPr>
          <a:xfrm>
            <a:off x="3282386" y="3173667"/>
            <a:ext cx="2500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96711" y="3173667"/>
            <a:ext cx="185363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-1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workflow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82386" y="3407959"/>
            <a:ext cx="2167961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7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time-to-first-test, generation-to-approval rate, execution success, export use, and weekly active teams.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764671" y="1257579"/>
            <a:ext cx="2864979" cy="2964656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Text 18"/>
          <p:cNvSpPr/>
          <p:nvPr/>
        </p:nvSpPr>
        <p:spPr>
          <a:xfrm>
            <a:off x="5964696" y="1436173"/>
            <a:ext cx="246492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AND POSITIONING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964696" y="1804076"/>
            <a:ext cx="242888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79021" y="1804076"/>
            <a:ext cx="2150604" cy="142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focused pilot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79021" y="1996567"/>
            <a:ext cx="215060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QA agencies or mid-market teams; validate repeat use, willingness to pay, retention, and cycle-time reduction.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5964696" y="2539882"/>
            <a:ext cx="242888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79021" y="2539882"/>
            <a:ext cx="2150604" cy="142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honestly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79021" y="2732373"/>
            <a:ext cx="215060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claim a better general-purpose model. Claim a more usable, governed, execution-ready QA workflow.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964696" y="3275688"/>
            <a:ext cx="242888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79021" y="3275688"/>
            <a:ext cx="2150604" cy="142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50" b="1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one metric weekly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79021" y="3468179"/>
            <a:ext cx="215060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whether teams are reaching a real regression result with less setup, fewer hand-offs, and repeatable evidence.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14350" y="4379398"/>
            <a:ext cx="8115300" cy="621506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29"/>
          <p:cNvSpPr/>
          <p:nvPr/>
        </p:nvSpPr>
        <p:spPr>
          <a:xfrm>
            <a:off x="714375" y="4695509"/>
            <a:ext cx="15859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2300288" y="4582325"/>
            <a:ext cx="5965031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00" b="1" spc="-1" kern="0" dirty="0">
                <a:solidFill>
                  <a:srgbClr val="F4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connected workflow, prove it through real execution, and make it effortless enough to become the QA team’s daily operating layer.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392906"/>
            <a:ext cx="509181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/ TEAM COMMITMENT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57213" y="928688"/>
            <a:ext cx="5091819" cy="850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3200" b="1" spc="-3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ForgeQA the QA execution layer.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57213" y="2164779"/>
            <a:ext cx="3714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5844" y="2164779"/>
            <a:ext cx="46131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00" b="1" spc="-1" kern="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connected workflow—not isolated AI features.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7213" y="2636267"/>
            <a:ext cx="3714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5844" y="2636267"/>
            <a:ext cx="46131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00" b="1" spc="-1" kern="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promise with real regression execution and evidence.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213" y="3107754"/>
            <a:ext cx="3714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5844" y="3107754"/>
            <a:ext cx="46131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000" b="1" spc="-1" kern="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daily quality work effortless for the whole team.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213" y="4697183"/>
            <a:ext cx="5091819" cy="13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7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ForgeQA Developer + QA Team Working Session | From client questions to release decisions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049082" y="0"/>
            <a:ext cx="309491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363407" y="392906"/>
            <a:ext cx="246626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363407" y="2132409"/>
            <a:ext cx="246626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PRINCIPLE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363407" y="2328863"/>
            <a:ext cx="2035969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650" b="1" spc="-1" kern="0" dirty="0">
                <a:solidFill>
                  <a:srgbClr val="06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system—not just the prompt.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363407" y="4220617"/>
            <a:ext cx="1928813" cy="60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a repeatable QA workflow that takes teams from product context to trusted, auditable execution.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2026-08-15T12:56:14Z</dcterms:created>
  <dcterms:modified xsi:type="dcterms:W3CDTF">2026-08-15T12:56:14Z</dcterms:modified>
</cp:coreProperties>
</file>